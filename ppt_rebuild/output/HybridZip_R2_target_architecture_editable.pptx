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274320" y="18288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3A5F"/>
                </a:solidFill>
                <a:latin typeface="Microsoft YaHei"/>
                <a:ea typeface="Microsoft YaHei"/>
              </a:rPr>
              <a:t>HybridZip R2 完全目标架构图</a:t>
            </a:r>
          </a:p>
        </p:txBody>
      </p:sp>
      <p:sp>
        <p:nvSpPr>
          <p:cNvPr id="3" name="legend-current-box"/>
          <p:cNvSpPr/>
          <p:nvPr/>
        </p:nvSpPr>
        <p:spPr>
          <a:xfrm>
            <a:off x="8366760" y="256032"/>
            <a:ext cx="256032" cy="201168"/>
          </a:xfrm>
          <a:prstGeom prst="rect">
            <a:avLst/>
          </a:prstGeom>
          <a:solidFill>
            <a:srgbClr val="FFFFFF"/>
          </a:solidFill>
          <a:ln w="2286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legend-current-arrow"/>
          <p:cNvCxnSpPr/>
          <p:nvPr/>
        </p:nvCxnSpPr>
        <p:spPr>
          <a:xfrm>
            <a:off x="8732520" y="356616"/>
            <a:ext cx="457200" cy="0"/>
          </a:xfrm>
          <a:prstGeom prst="line">
            <a:avLst/>
          </a:prstGeom>
          <a:ln w="2794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"/>
          <p:cNvSpPr txBox="1"/>
          <p:nvPr/>
        </p:nvSpPr>
        <p:spPr>
          <a:xfrm>
            <a:off x="9235440" y="192024"/>
            <a:ext cx="96012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Microsoft YaHei"/>
                <a:ea typeface="Microsoft YaHei"/>
              </a:rPr>
              <a:t>当前已有基础</a:t>
            </a:r>
          </a:p>
        </p:txBody>
      </p:sp>
      <p:sp>
        <p:nvSpPr>
          <p:cNvPr id="6" name="legend-planned-box"/>
          <p:cNvSpPr/>
          <p:nvPr/>
        </p:nvSpPr>
        <p:spPr>
          <a:xfrm>
            <a:off x="10287000" y="256032"/>
            <a:ext cx="256032" cy="201168"/>
          </a:xfrm>
          <a:prstGeom prst="rect">
            <a:avLst/>
          </a:prstGeom>
          <a:solidFill>
            <a:srgbClr val="FFFFFF"/>
          </a:solidFill>
          <a:ln w="2286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legend-planned-arrow"/>
          <p:cNvCxnSpPr/>
          <p:nvPr/>
        </p:nvCxnSpPr>
        <p:spPr>
          <a:xfrm>
            <a:off x="10652760" y="356616"/>
            <a:ext cx="457200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"/>
          <p:cNvSpPr txBox="1"/>
          <p:nvPr/>
        </p:nvSpPr>
        <p:spPr>
          <a:xfrm>
            <a:off x="11155680" y="192024"/>
            <a:ext cx="91440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Microsoft YaHei"/>
                <a:ea typeface="Microsoft YaHei"/>
              </a:rPr>
              <a:t>最终架构扩展</a:t>
            </a:r>
          </a:p>
        </p:txBody>
      </p:sp>
      <p:sp>
        <p:nvSpPr>
          <p:cNvPr id="9" name="zone-1"/>
          <p:cNvSpPr txBox="1"/>
          <p:nvPr/>
        </p:nvSpPr>
        <p:spPr>
          <a:xfrm>
            <a:off x="3063240" y="896112"/>
            <a:ext cx="17373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Microsoft YaHei"/>
                <a:ea typeface="Microsoft YaHei"/>
              </a:rPr>
              <a:t>ZONE 2  压缩算法族</a:t>
            </a:r>
          </a:p>
        </p:txBody>
      </p:sp>
      <p:cxnSp>
        <p:nvCxnSpPr>
          <p:cNvPr id="10" name="zone-rule-1"/>
          <p:cNvCxnSpPr/>
          <p:nvPr/>
        </p:nvCxnSpPr>
        <p:spPr>
          <a:xfrm>
            <a:off x="3063240" y="1115568"/>
            <a:ext cx="173736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-2"/>
          <p:cNvSpPr txBox="1"/>
          <p:nvPr/>
        </p:nvSpPr>
        <p:spPr>
          <a:xfrm>
            <a:off x="5074920" y="896112"/>
            <a:ext cx="31089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Microsoft YaHei"/>
                <a:ea typeface="Microsoft YaHei"/>
              </a:rPr>
              <a:t>ZONE 3  分层路由与策略</a:t>
            </a:r>
          </a:p>
        </p:txBody>
      </p:sp>
      <p:cxnSp>
        <p:nvCxnSpPr>
          <p:cNvPr id="12" name="zone-rule-2"/>
          <p:cNvCxnSpPr/>
          <p:nvPr/>
        </p:nvCxnSpPr>
        <p:spPr>
          <a:xfrm>
            <a:off x="5074920" y="1115568"/>
            <a:ext cx="3108959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-3"/>
          <p:cNvSpPr txBox="1"/>
          <p:nvPr/>
        </p:nvSpPr>
        <p:spPr>
          <a:xfrm>
            <a:off x="9281160" y="896112"/>
            <a:ext cx="21945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Microsoft YaHei"/>
                <a:ea typeface="Microsoft YaHei"/>
              </a:rPr>
              <a:t>ZONE 6  神经与共享运行时</a:t>
            </a:r>
          </a:p>
        </p:txBody>
      </p:sp>
      <p:cxnSp>
        <p:nvCxnSpPr>
          <p:cNvPr id="14" name="zone-rule-3"/>
          <p:cNvCxnSpPr/>
          <p:nvPr/>
        </p:nvCxnSpPr>
        <p:spPr>
          <a:xfrm>
            <a:off x="9281160" y="1115568"/>
            <a:ext cx="219456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-4"/>
          <p:cNvSpPr txBox="1"/>
          <p:nvPr/>
        </p:nvSpPr>
        <p:spPr>
          <a:xfrm>
            <a:off x="274320" y="2633472"/>
            <a:ext cx="24688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Microsoft YaHei"/>
                <a:ea typeface="Microsoft YaHei"/>
              </a:rPr>
              <a:t>ZONE 1  输入与结构分析</a:t>
            </a:r>
          </a:p>
        </p:txBody>
      </p:sp>
      <p:cxnSp>
        <p:nvCxnSpPr>
          <p:cNvPr id="16" name="zone-rule-4"/>
          <p:cNvCxnSpPr/>
          <p:nvPr/>
        </p:nvCxnSpPr>
        <p:spPr>
          <a:xfrm>
            <a:off x="274320" y="2852928"/>
            <a:ext cx="246888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-5"/>
          <p:cNvSpPr txBox="1"/>
          <p:nvPr/>
        </p:nvSpPr>
        <p:spPr>
          <a:xfrm>
            <a:off x="4142232" y="2596896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  <a:ea typeface="Microsoft YaHei"/>
              </a:rPr>
              <a:t>ZONE 4  候选 / 账本</a:t>
            </a:r>
          </a:p>
        </p:txBody>
      </p:sp>
      <p:cxnSp>
        <p:nvCxnSpPr>
          <p:cNvPr id="18" name="zone-rule-5"/>
          <p:cNvCxnSpPr/>
          <p:nvPr/>
        </p:nvCxnSpPr>
        <p:spPr>
          <a:xfrm>
            <a:off x="4142232" y="2852927"/>
            <a:ext cx="141732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-6"/>
          <p:cNvSpPr txBox="1"/>
          <p:nvPr/>
        </p:nvSpPr>
        <p:spPr>
          <a:xfrm>
            <a:off x="5879592" y="2596896"/>
            <a:ext cx="1874519" cy="2377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  <a:ea typeface="Microsoft YaHei"/>
              </a:rPr>
              <a:t>ZONE 5  归档 / 解码</a:t>
            </a:r>
          </a:p>
        </p:txBody>
      </p:sp>
      <p:cxnSp>
        <p:nvCxnSpPr>
          <p:cNvPr id="20" name="zone-rule-6"/>
          <p:cNvCxnSpPr/>
          <p:nvPr/>
        </p:nvCxnSpPr>
        <p:spPr>
          <a:xfrm>
            <a:off x="5879592" y="2852927"/>
            <a:ext cx="187452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-7"/>
          <p:cNvSpPr txBox="1"/>
          <p:nvPr/>
        </p:nvSpPr>
        <p:spPr>
          <a:xfrm>
            <a:off x="274320" y="48280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Microsoft YaHei"/>
                <a:ea typeface="Microsoft YaHei"/>
              </a:rPr>
              <a:t>CURRENT BASELINE</a:t>
            </a:r>
          </a:p>
        </p:txBody>
      </p:sp>
      <p:cxnSp>
        <p:nvCxnSpPr>
          <p:cNvPr id="22" name="zone-rule-7"/>
          <p:cNvCxnSpPr/>
          <p:nvPr/>
        </p:nvCxnSpPr>
        <p:spPr>
          <a:xfrm>
            <a:off x="274320" y="5047488"/>
            <a:ext cx="2011680" cy="0"/>
          </a:xfrm>
          <a:prstGeom prst="line">
            <a:avLst/>
          </a:prstGeom>
          <a:ln w="1016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dge-1-1"/>
          <p:cNvCxnSpPr/>
          <p:nvPr/>
        </p:nvCxnSpPr>
        <p:spPr>
          <a:xfrm>
            <a:off x="4709160" y="1874519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dge-2-1"/>
          <p:cNvCxnSpPr/>
          <p:nvPr/>
        </p:nvCxnSpPr>
        <p:spPr>
          <a:xfrm>
            <a:off x="6492240" y="1874519"/>
            <a:ext cx="411480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dge-3-1"/>
          <p:cNvCxnSpPr/>
          <p:nvPr/>
        </p:nvCxnSpPr>
        <p:spPr>
          <a:xfrm>
            <a:off x="8439912" y="1874519"/>
            <a:ext cx="841248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dge-4-1"/>
          <p:cNvCxnSpPr/>
          <p:nvPr/>
        </p:nvCxnSpPr>
        <p:spPr>
          <a:xfrm flipV="1">
            <a:off x="3374136" y="2706624"/>
            <a:ext cx="0" cy="310896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dge-4-2"/>
          <p:cNvCxnSpPr/>
          <p:nvPr/>
        </p:nvCxnSpPr>
        <p:spPr>
          <a:xfrm>
            <a:off x="3374136" y="2706624"/>
            <a:ext cx="512064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dge-4-3"/>
          <p:cNvCxnSpPr/>
          <p:nvPr/>
        </p:nvCxnSpPr>
        <p:spPr>
          <a:xfrm flipV="1">
            <a:off x="3886200" y="2560320"/>
            <a:ext cx="0" cy="146304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dge-5-1"/>
          <p:cNvCxnSpPr/>
          <p:nvPr/>
        </p:nvCxnSpPr>
        <p:spPr>
          <a:xfrm>
            <a:off x="7671816" y="2386584"/>
            <a:ext cx="0" cy="54864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dge-5-2"/>
          <p:cNvCxnSpPr/>
          <p:nvPr/>
        </p:nvCxnSpPr>
        <p:spPr>
          <a:xfrm flipH="1">
            <a:off x="5577840" y="2441448"/>
            <a:ext cx="2093976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dge-5-3"/>
          <p:cNvCxnSpPr/>
          <p:nvPr/>
        </p:nvCxnSpPr>
        <p:spPr>
          <a:xfrm>
            <a:off x="5577840" y="2441448"/>
            <a:ext cx="0" cy="484632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dge-6-1"/>
          <p:cNvCxnSpPr/>
          <p:nvPr/>
        </p:nvCxnSpPr>
        <p:spPr>
          <a:xfrm>
            <a:off x="1325880" y="3419856"/>
            <a:ext cx="20116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dge-7-1"/>
          <p:cNvCxnSpPr/>
          <p:nvPr/>
        </p:nvCxnSpPr>
        <p:spPr>
          <a:xfrm>
            <a:off x="2578608" y="3419856"/>
            <a:ext cx="20116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dge-8-1"/>
          <p:cNvCxnSpPr/>
          <p:nvPr/>
        </p:nvCxnSpPr>
        <p:spPr>
          <a:xfrm>
            <a:off x="3968496" y="3419856"/>
            <a:ext cx="201167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dge-9-1"/>
          <p:cNvCxnSpPr/>
          <p:nvPr/>
        </p:nvCxnSpPr>
        <p:spPr>
          <a:xfrm>
            <a:off x="5669280" y="3419856"/>
            <a:ext cx="20116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dge-10-1"/>
          <p:cNvCxnSpPr/>
          <p:nvPr/>
        </p:nvCxnSpPr>
        <p:spPr>
          <a:xfrm>
            <a:off x="6876288" y="3419856"/>
            <a:ext cx="20116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dge-11-1"/>
          <p:cNvCxnSpPr/>
          <p:nvPr/>
        </p:nvCxnSpPr>
        <p:spPr>
          <a:xfrm>
            <a:off x="8065008" y="3419856"/>
            <a:ext cx="201167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dge-12-1"/>
          <p:cNvCxnSpPr/>
          <p:nvPr/>
        </p:nvCxnSpPr>
        <p:spPr>
          <a:xfrm>
            <a:off x="9381744" y="3419856"/>
            <a:ext cx="20116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dge-13-1"/>
          <p:cNvCxnSpPr/>
          <p:nvPr/>
        </p:nvCxnSpPr>
        <p:spPr>
          <a:xfrm>
            <a:off x="4919472" y="3913632"/>
            <a:ext cx="0" cy="1042416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dge-14-1"/>
          <p:cNvCxnSpPr/>
          <p:nvPr/>
        </p:nvCxnSpPr>
        <p:spPr>
          <a:xfrm>
            <a:off x="6748272" y="3822191"/>
            <a:ext cx="0" cy="585217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dge-14-2"/>
          <p:cNvCxnSpPr/>
          <p:nvPr/>
        </p:nvCxnSpPr>
        <p:spPr>
          <a:xfrm>
            <a:off x="6748272" y="4407408"/>
            <a:ext cx="192024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dge-14-3"/>
          <p:cNvCxnSpPr/>
          <p:nvPr/>
        </p:nvCxnSpPr>
        <p:spPr>
          <a:xfrm>
            <a:off x="6940296" y="4407408"/>
            <a:ext cx="0" cy="54864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dge-15-1"/>
          <p:cNvCxnSpPr/>
          <p:nvPr/>
        </p:nvCxnSpPr>
        <p:spPr>
          <a:xfrm>
            <a:off x="9217152" y="3822191"/>
            <a:ext cx="0" cy="585217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dge-15-2"/>
          <p:cNvCxnSpPr/>
          <p:nvPr/>
        </p:nvCxnSpPr>
        <p:spPr>
          <a:xfrm flipH="1">
            <a:off x="9043416" y="4407408"/>
            <a:ext cx="173736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dge-15-3"/>
          <p:cNvCxnSpPr/>
          <p:nvPr/>
        </p:nvCxnSpPr>
        <p:spPr>
          <a:xfrm>
            <a:off x="9043416" y="4407408"/>
            <a:ext cx="0" cy="54864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dge-16-1"/>
          <p:cNvCxnSpPr/>
          <p:nvPr/>
        </p:nvCxnSpPr>
        <p:spPr>
          <a:xfrm>
            <a:off x="1325880" y="5632704"/>
            <a:ext cx="246888" cy="0"/>
          </a:xfrm>
          <a:prstGeom prst="line">
            <a:avLst/>
          </a:prstGeom>
          <a:ln w="30480">
            <a:solidFill>
              <a:srgbClr val="16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dge-17-1"/>
          <p:cNvCxnSpPr/>
          <p:nvPr/>
        </p:nvCxnSpPr>
        <p:spPr>
          <a:xfrm>
            <a:off x="2706624" y="5632704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amilies"/>
          <p:cNvSpPr/>
          <p:nvPr/>
        </p:nvSpPr>
        <p:spPr>
          <a:xfrm>
            <a:off x="3063240" y="118872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amilies-title"/>
          <p:cNvSpPr txBox="1"/>
          <p:nvPr/>
        </p:nvSpPr>
        <p:spPr>
          <a:xfrm>
            <a:off x="3108960" y="1271016"/>
            <a:ext cx="15544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Microsoft YaHei"/>
                <a:ea typeface="Microsoft YaHei"/>
              </a:rPr>
              <a:t>Families｜算法族</a:t>
            </a:r>
          </a:p>
        </p:txBody>
      </p:sp>
      <p:sp>
        <p:nvSpPr>
          <p:cNvPr id="50" name="families-subtitle"/>
          <p:cNvSpPr txBox="1"/>
          <p:nvPr/>
        </p:nvSpPr>
        <p:spPr>
          <a:xfrm>
            <a:off x="3118104" y="1627632"/>
            <a:ext cx="1536192" cy="8869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统计建模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匹配 / LZ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表示变换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专用模型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神经模型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多重编码器</a:t>
            </a:r>
          </a:p>
        </p:txBody>
      </p:sp>
      <p:sp>
        <p:nvSpPr>
          <p:cNvPr id="51" name="layer_b"/>
          <p:cNvSpPr/>
          <p:nvPr/>
        </p:nvSpPr>
        <p:spPr>
          <a:xfrm>
            <a:off x="5074920" y="1399032"/>
            <a:ext cx="141732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ayer_b-title"/>
          <p:cNvSpPr txBox="1"/>
          <p:nvPr/>
        </p:nvSpPr>
        <p:spPr>
          <a:xfrm>
            <a:off x="5120640" y="1481328"/>
            <a:ext cx="132588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Layer B</a:t>
            </a:r>
          </a:p>
        </p:txBody>
      </p:sp>
      <p:sp>
        <p:nvSpPr>
          <p:cNvPr id="53" name="layer_b-subtitle"/>
          <p:cNvSpPr txBox="1"/>
          <p:nvPr/>
        </p:nvSpPr>
        <p:spPr>
          <a:xfrm>
            <a:off x="5129783" y="1837943"/>
            <a:ext cx="130759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因果族级路由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休眠 / 校准</a:t>
            </a:r>
          </a:p>
        </p:txBody>
      </p:sp>
      <p:sp>
        <p:nvSpPr>
          <p:cNvPr id="54" name="layer_c"/>
          <p:cNvSpPr/>
          <p:nvPr/>
        </p:nvSpPr>
        <p:spPr>
          <a:xfrm>
            <a:off x="6903720" y="1399032"/>
            <a:ext cx="1536192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ayer_c-title"/>
          <p:cNvSpPr txBox="1"/>
          <p:nvPr/>
        </p:nvSpPr>
        <p:spPr>
          <a:xfrm>
            <a:off x="6949440" y="1481328"/>
            <a:ext cx="1444751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Layer C</a:t>
            </a:r>
          </a:p>
        </p:txBody>
      </p:sp>
      <p:sp>
        <p:nvSpPr>
          <p:cNvPr id="56" name="layer_c-subtitle"/>
          <p:cNvSpPr txBox="1"/>
          <p:nvPr/>
        </p:nvSpPr>
        <p:spPr>
          <a:xfrm>
            <a:off x="6958583" y="1837943"/>
            <a:ext cx="1426464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分支策略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模型策略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编码器策略</a:t>
            </a:r>
          </a:p>
        </p:txBody>
      </p:sp>
      <p:sp>
        <p:nvSpPr>
          <p:cNvPr id="57" name="neural"/>
          <p:cNvSpPr/>
          <p:nvPr/>
        </p:nvSpPr>
        <p:spPr>
          <a:xfrm>
            <a:off x="9281160" y="1399032"/>
            <a:ext cx="1737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eural-title"/>
          <p:cNvSpPr txBox="1"/>
          <p:nvPr/>
        </p:nvSpPr>
        <p:spPr>
          <a:xfrm>
            <a:off x="9326880" y="1481328"/>
            <a:ext cx="1645919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计划神经扩展</a:t>
            </a:r>
          </a:p>
        </p:txBody>
      </p:sp>
      <p:sp>
        <p:nvSpPr>
          <p:cNvPr id="59" name="neural-subtitle"/>
          <p:cNvSpPr txBox="1"/>
          <p:nvPr/>
        </p:nvSpPr>
        <p:spPr>
          <a:xfrm>
            <a:off x="9336024" y="1837943"/>
            <a:ext cx="1627631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共享模型与运行时</a:t>
            </a:r>
          </a:p>
        </p:txBody>
      </p:sp>
      <p:sp>
        <p:nvSpPr>
          <p:cNvPr id="60" name="input"/>
          <p:cNvSpPr/>
          <p:nvPr/>
        </p:nvSpPr>
        <p:spPr>
          <a:xfrm>
            <a:off x="274320" y="3017520"/>
            <a:ext cx="1051560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nput-title"/>
          <p:cNvSpPr txBox="1"/>
          <p:nvPr/>
        </p:nvSpPr>
        <p:spPr>
          <a:xfrm>
            <a:off x="320040" y="3072384"/>
            <a:ext cx="960119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输入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字节流</a:t>
            </a:r>
          </a:p>
        </p:txBody>
      </p:sp>
      <p:sp>
        <p:nvSpPr>
          <p:cNvPr id="62" name="splitter"/>
          <p:cNvSpPr/>
          <p:nvPr/>
        </p:nvSpPr>
        <p:spPr>
          <a:xfrm>
            <a:off x="1527048" y="3017520"/>
            <a:ext cx="1051560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plitter-title"/>
          <p:cNvSpPr txBox="1"/>
          <p:nvPr/>
        </p:nvSpPr>
        <p:spPr>
          <a:xfrm>
            <a:off x="1572768" y="3072384"/>
            <a:ext cx="960119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</a:rPr>
              <a:t>分块器</a:t>
            </a:r>
          </a:p>
        </p:txBody>
      </p:sp>
      <p:sp>
        <p:nvSpPr>
          <p:cNvPr id="64" name="layer_a"/>
          <p:cNvSpPr/>
          <p:nvPr/>
        </p:nvSpPr>
        <p:spPr>
          <a:xfrm>
            <a:off x="2779776" y="3017520"/>
            <a:ext cx="1188720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ayer_a-title"/>
          <p:cNvSpPr txBox="1"/>
          <p:nvPr/>
        </p:nvSpPr>
        <p:spPr>
          <a:xfrm>
            <a:off x="2825496" y="3099815"/>
            <a:ext cx="109728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Layer A</a:t>
            </a:r>
          </a:p>
        </p:txBody>
      </p:sp>
      <p:sp>
        <p:nvSpPr>
          <p:cNvPr id="66" name="layer_a-subtitle"/>
          <p:cNvSpPr txBox="1"/>
          <p:nvPr/>
        </p:nvSpPr>
        <p:spPr>
          <a:xfrm>
            <a:off x="2834640" y="3456432"/>
            <a:ext cx="107899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</a:rPr>
              <a:t>字节级结构门控</a:t>
            </a:r>
          </a:p>
        </p:txBody>
      </p:sp>
      <p:sp>
        <p:nvSpPr>
          <p:cNvPr id="67" name="candidate"/>
          <p:cNvSpPr/>
          <p:nvPr/>
        </p:nvSpPr>
        <p:spPr>
          <a:xfrm>
            <a:off x="4169663" y="2926080"/>
            <a:ext cx="1499616" cy="987552"/>
          </a:xfrm>
          <a:prstGeom prst="rect">
            <a:avLst/>
          </a:prstGeom>
          <a:solidFill>
            <a:srgbClr val="E8EEF4"/>
          </a:solidFill>
          <a:ln w="406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andidate-title"/>
          <p:cNvSpPr txBox="1"/>
          <p:nvPr/>
        </p:nvSpPr>
        <p:spPr>
          <a:xfrm>
            <a:off x="4215383" y="3008376"/>
            <a:ext cx="1408175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Microsoft YaHei"/>
                <a:ea typeface="Microsoft YaHei"/>
              </a:rPr>
              <a:t>当前候选系统</a:t>
            </a:r>
          </a:p>
        </p:txBody>
      </p:sp>
      <p:sp>
        <p:nvSpPr>
          <p:cNvPr id="69" name="candidate-subtitle"/>
          <p:cNvSpPr txBox="1"/>
          <p:nvPr/>
        </p:nvSpPr>
        <p:spPr>
          <a:xfrm>
            <a:off x="4224527" y="3364992"/>
            <a:ext cx="1389888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Microsoft YaHei"/>
                <a:ea typeface="Microsoft YaHei"/>
              </a:rPr>
              <a:t>真实归档字节比较</a:t>
            </a:r>
          </a:p>
        </p:txBody>
      </p:sp>
      <p:sp>
        <p:nvSpPr>
          <p:cNvPr id="70" name="writer"/>
          <p:cNvSpPr/>
          <p:nvPr/>
        </p:nvSpPr>
        <p:spPr>
          <a:xfrm>
            <a:off x="5870448" y="3017520"/>
            <a:ext cx="1005840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riter-title"/>
          <p:cNvSpPr txBox="1"/>
          <p:nvPr/>
        </p:nvSpPr>
        <p:spPr>
          <a:xfrm>
            <a:off x="5916168" y="3072384"/>
            <a:ext cx="914400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HZ02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写入器</a:t>
            </a:r>
          </a:p>
        </p:txBody>
      </p:sp>
      <p:sp>
        <p:nvSpPr>
          <p:cNvPr id="72" name="archive"/>
          <p:cNvSpPr/>
          <p:nvPr/>
        </p:nvSpPr>
        <p:spPr>
          <a:xfrm>
            <a:off x="7077456" y="3017520"/>
            <a:ext cx="987552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hive-title"/>
          <p:cNvSpPr txBox="1"/>
          <p:nvPr/>
        </p:nvSpPr>
        <p:spPr>
          <a:xfrm>
            <a:off x="7123176" y="3072384"/>
            <a:ext cx="896112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HZ02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归档</a:t>
            </a:r>
          </a:p>
        </p:txBody>
      </p:sp>
      <p:sp>
        <p:nvSpPr>
          <p:cNvPr id="74" name="decoder"/>
          <p:cNvSpPr/>
          <p:nvPr/>
        </p:nvSpPr>
        <p:spPr>
          <a:xfrm>
            <a:off x="8266175" y="3017520"/>
            <a:ext cx="1115568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coder-title"/>
          <p:cNvSpPr txBox="1"/>
          <p:nvPr/>
        </p:nvSpPr>
        <p:spPr>
          <a:xfrm>
            <a:off x="8311896" y="3072384"/>
            <a:ext cx="1024127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严格解码器</a:t>
            </a:r>
          </a:p>
        </p:txBody>
      </p:sp>
      <p:sp>
        <p:nvSpPr>
          <p:cNvPr id="76" name="output"/>
          <p:cNvSpPr/>
          <p:nvPr/>
        </p:nvSpPr>
        <p:spPr>
          <a:xfrm>
            <a:off x="9582912" y="3017520"/>
            <a:ext cx="1298448" cy="804672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utput-title"/>
          <p:cNvSpPr txBox="1"/>
          <p:nvPr/>
        </p:nvSpPr>
        <p:spPr>
          <a:xfrm>
            <a:off x="9628632" y="3072384"/>
            <a:ext cx="1207007" cy="6949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逐字节一致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78" name="baseline_input"/>
          <p:cNvSpPr/>
          <p:nvPr/>
        </p:nvSpPr>
        <p:spPr>
          <a:xfrm>
            <a:off x="274320" y="5266944"/>
            <a:ext cx="1051560" cy="731520"/>
          </a:xfrm>
          <a:prstGeom prst="rect">
            <a:avLst/>
          </a:prstGeom>
          <a:solidFill>
            <a:srgbClr val="FFFFF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baseline_input-title"/>
          <p:cNvSpPr txBox="1"/>
          <p:nvPr/>
        </p:nvSpPr>
        <p:spPr>
          <a:xfrm>
            <a:off x="320040" y="5321807"/>
            <a:ext cx="960119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输入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字节流</a:t>
            </a:r>
          </a:p>
        </p:txBody>
      </p:sp>
      <p:sp>
        <p:nvSpPr>
          <p:cNvPr id="80" name="hz01"/>
          <p:cNvSpPr/>
          <p:nvPr/>
        </p:nvSpPr>
        <p:spPr>
          <a:xfrm>
            <a:off x="1572768" y="5266944"/>
            <a:ext cx="1133856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z01-title"/>
          <p:cNvSpPr txBox="1"/>
          <p:nvPr/>
        </p:nvSpPr>
        <p:spPr>
          <a:xfrm>
            <a:off x="1618488" y="5349240"/>
            <a:ext cx="1042415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HZ01 基线</a:t>
            </a:r>
          </a:p>
        </p:txBody>
      </p:sp>
      <p:sp>
        <p:nvSpPr>
          <p:cNvPr id="82" name="hz01-subtitle"/>
          <p:cNvSpPr txBox="1"/>
          <p:nvPr/>
        </p:nvSpPr>
        <p:spPr>
          <a:xfrm>
            <a:off x="1627632" y="5705856"/>
            <a:ext cx="1024128" cy="2468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V1 四专家混合器</a:t>
            </a:r>
          </a:p>
        </p:txBody>
      </p:sp>
      <p:sp>
        <p:nvSpPr>
          <p:cNvPr id="83" name="hz01_archive"/>
          <p:cNvSpPr/>
          <p:nvPr/>
        </p:nvSpPr>
        <p:spPr>
          <a:xfrm>
            <a:off x="2962656" y="5266944"/>
            <a:ext cx="1060704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z01_archive-title"/>
          <p:cNvSpPr txBox="1"/>
          <p:nvPr/>
        </p:nvSpPr>
        <p:spPr>
          <a:xfrm>
            <a:off x="3008376" y="5321807"/>
            <a:ext cx="969263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Microsoft YaHei"/>
              </a:rPr>
              <a:t>HZ01 归档</a:t>
            </a:r>
          </a:p>
        </p:txBody>
      </p:sp>
      <p:sp>
        <p:nvSpPr>
          <p:cNvPr id="85" name="ledger"/>
          <p:cNvSpPr/>
          <p:nvPr/>
        </p:nvSpPr>
        <p:spPr>
          <a:xfrm>
            <a:off x="4315968" y="4956048"/>
            <a:ext cx="1353312" cy="859536"/>
          </a:xfrm>
          <a:prstGeom prst="rect">
            <a:avLst/>
          </a:prstGeom>
          <a:solidFill>
            <a:srgbClr val="163A5F"/>
          </a:solidFill>
          <a:ln w="2794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edger-title"/>
          <p:cNvSpPr txBox="1"/>
          <p:nvPr/>
        </p:nvSpPr>
        <p:spPr>
          <a:xfrm>
            <a:off x="4361688" y="5038344"/>
            <a:ext cx="1261872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当前实验账本</a:t>
            </a:r>
          </a:p>
        </p:txBody>
      </p:sp>
      <p:sp>
        <p:nvSpPr>
          <p:cNvPr id="87" name="ledger-subtitle"/>
          <p:cNvSpPr txBox="1"/>
          <p:nvPr/>
        </p:nvSpPr>
        <p:spPr>
          <a:xfrm>
            <a:off x="4370831" y="5394960"/>
            <a:ext cx="1243584" cy="37490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候选字节数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Oracle 差距</a:t>
            </a:r>
          </a:p>
        </p:txBody>
      </p:sp>
      <p:sp>
        <p:nvSpPr>
          <p:cNvPr id="88" name="decoder_metadata"/>
          <p:cNvSpPr/>
          <p:nvPr/>
        </p:nvSpPr>
        <p:spPr>
          <a:xfrm>
            <a:off x="6144768" y="4956048"/>
            <a:ext cx="1591056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coder_metadata-title"/>
          <p:cNvSpPr txBox="1"/>
          <p:nvPr/>
        </p:nvSpPr>
        <p:spPr>
          <a:xfrm>
            <a:off x="6190488" y="5038344"/>
            <a:ext cx="1499616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计划解码元数据</a:t>
            </a:r>
          </a:p>
        </p:txBody>
      </p:sp>
      <p:sp>
        <p:nvSpPr>
          <p:cNvPr id="90" name="decoder_metadata-subtitle"/>
          <p:cNvSpPr txBox="1"/>
          <p:nvPr/>
        </p:nvSpPr>
        <p:spPr>
          <a:xfrm>
            <a:off x="6199631" y="5394960"/>
            <a:ext cx="1481328" cy="37490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模式 / 变换 / 模型标识</a:t>
            </a:r>
          </a:p>
        </p:txBody>
      </p:sp>
      <p:sp>
        <p:nvSpPr>
          <p:cNvPr id="91" name="decoder_extensions"/>
          <p:cNvSpPr/>
          <p:nvPr/>
        </p:nvSpPr>
        <p:spPr>
          <a:xfrm>
            <a:off x="8229600" y="4956048"/>
            <a:ext cx="1627632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coder_extensions-title"/>
          <p:cNvSpPr txBox="1"/>
          <p:nvPr/>
        </p:nvSpPr>
        <p:spPr>
          <a:xfrm>
            <a:off x="8275320" y="5038344"/>
            <a:ext cx="1536192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计划解码扩展</a:t>
            </a:r>
          </a:p>
        </p:txBody>
      </p:sp>
      <p:sp>
        <p:nvSpPr>
          <p:cNvPr id="93" name="decoder_extensions-subtitle"/>
          <p:cNvSpPr txBox="1"/>
          <p:nvPr/>
        </p:nvSpPr>
        <p:spPr>
          <a:xfrm>
            <a:off x="8284464" y="5394960"/>
            <a:ext cx="1517904" cy="37490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icrosoft YaHei"/>
                <a:ea typeface="Microsoft YaHei"/>
              </a:rPr>
              <a:t>更严格契约与格式检查</a:t>
            </a:r>
          </a:p>
        </p:txBody>
      </p:sp>
      <p:sp>
        <p:nvSpPr>
          <p:cNvPr id="94" name="caption-1"/>
          <p:cNvSpPr txBox="1"/>
          <p:nvPr/>
        </p:nvSpPr>
        <p:spPr>
          <a:xfrm>
            <a:off x="5650992" y="3831336"/>
            <a:ext cx="1005840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</a:rPr>
              <a:t>模式 / 变换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</a:rPr>
              <a:t>元数据 / CRC</a:t>
            </a:r>
          </a:p>
        </p:txBody>
      </p:sp>
      <p:sp>
        <p:nvSpPr>
          <p:cNvPr id="95" name="caption-2"/>
          <p:cNvSpPr txBox="1"/>
          <p:nvPr/>
        </p:nvSpPr>
        <p:spPr>
          <a:xfrm>
            <a:off x="8046720" y="3831336"/>
            <a:ext cx="914400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</a:rPr>
              <a:t>归档格式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</a:rPr>
              <a:t>CRC 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